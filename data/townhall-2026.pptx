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TOWNHALL · MARCH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023360" y="3931920"/>
            <a:ext cx="1097280" cy="73152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re-imagined from first principles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Market-First  →  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5943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Format-First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MARKET-WISE STRUCTURE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· Haryana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 · Rajasthan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 · Bhojpuri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86016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31736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 · Gujarat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TEAM  ·  CHIEF: PARVEEN SINGHAL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Renu Rana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33472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24912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Binge Series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24912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Nidhi Mishra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9744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01184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Film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01184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Pravesh Rajput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86016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77456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Microdrama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77456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Pravesh Rajput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611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TEAM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Ankit Parashar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33472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24912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24912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Films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24912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/ Ankit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9744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01184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Micro-Drama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01184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86016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7456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77456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Promos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77456" y="4343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Aakash Dayal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CAC-First  →  LTV-First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23560" y="731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(full-funnel)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CAC-First Thinking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Optimise for lowest CAC possible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Success = cheap installs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Content, Promo &amp; Performance work in silos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visibility beyond acquisition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Churn is someone else's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cheap users who don't stay → LTV never achieved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0F0F0F"/>
          </a:solidFill>
          <a:ln w="19050">
            <a:solidFill>
              <a:srgbClr val="0F0F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as North Star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across every team feeds into one number.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3774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WTR · Completion · Depth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44368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9900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3172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Hold · CTR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11296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5570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37398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· TR · D0TCR · SR · Sub CAC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4078224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1239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4306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· Watch Retention · SCR · Renewal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GOAL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positive by Month 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FULL-FUNNEL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feeds into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0" y="594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EFF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TAM  ·  Watch Through Rate (WTR)  ·  Completion Rate  ·  Depth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963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Rate  ·  Hold Rate  ·  CTA  ·  CTR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3649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TAM  ·  Reach  ·  Traffic  ·  IR (7–8%)  ·  TR (28.4%)  ·  D0TCR (43.1%)  ·  SR (35%)  ·  Sub CAC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69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325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(first 30 days)  ·  Watch Retention  ·  Dormant Users  ·  SCR  ·  Renewal Rate  ·  Churned Users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8412480" cy="731520"/>
          </a:xfrm>
          <a:prstGeom prst="roundRect">
            <a:avLst>
              <a:gd name="adj" fmla="val 15000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83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 ·  LTV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983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  ₹532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4983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  ₹601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983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₹626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5074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LTV positive by Month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CAC &amp; Payback Month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₹199/month  ·  SCR curve: 35% → 30% → 20%  ·  Formula: Sub CAC = Trial CAC ÷ [(1 − TCR) × 0.80]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CAC ↓ / TCR →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3444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(best)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7492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0" y="1508760"/>
            <a:ext cx="960120" cy="320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5087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(worst)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828800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3444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 M2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9456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₹268 M2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5468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₹288 M2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₹313 M3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₹341 M3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₹375 M3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9516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55280" y="182880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1828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₹469 M5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212848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23444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3444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₹292 M2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9456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₹313 M3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5468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468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₹337 M3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₹365 M3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7492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₹398 M4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3504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₹438 M4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₹486 M5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955280" y="22128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5528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₹547 M7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2596896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23444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3444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₹333 M3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9456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9456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₹357 M3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5468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5468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₹385 M4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11480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7492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7492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₹455 M4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03504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M5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9516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9516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₹556 M8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955280" y="2596896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55280" y="25968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74320" y="2980944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₹225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23444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3444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₹375 M3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19456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9456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₹402 M4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15468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5468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₹433 M4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11480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₹469 M5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07492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492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₹511 M6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03504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3504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₹563 M8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99516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9516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955280" y="29809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55280" y="29809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₹703 Never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74320" y="3364992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23444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3444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₹417 M4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19456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9456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₹446 M4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15468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5468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₹481 M5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11480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1480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₹521 M6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07492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7492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₹568 M9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03504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03504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99516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9516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₹694 Never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955280" y="336499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55280" y="33649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₹781 Never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74320" y="3749040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₹275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23444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23444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₹458 M4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19456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9456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₹491 M5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315468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15468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₹529 M6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11480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11480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₹573 M9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07492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7492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03504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3504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₹688 Never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99516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99516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₹764 Never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7955280" y="37490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955280" y="37490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₹859 Never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274320" y="4133088"/>
            <a:ext cx="960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7432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₹300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123444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23444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 M5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219456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19456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₹536 M7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15468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5468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₹577 M9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11480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1480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₹625 &gt;12m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07492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07492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₹682 Never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03504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03504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₹750 Never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699516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99516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₹833 Never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7955280" y="413308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955280" y="41330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₹938 Never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274320" y="457200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8640" y="46451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— North Star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228600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 ₹532</a:t>
            </a:r>
            <a:endParaRPr lang="en-US" sz="1300" dirty="0"/>
          </a:p>
        </p:txBody>
      </p:sp>
      <p:sp>
        <p:nvSpPr>
          <p:cNvPr id="153" name="Text 151"/>
          <p:cNvSpPr/>
          <p:nvPr/>
        </p:nvSpPr>
        <p:spPr>
          <a:xfrm>
            <a:off x="4114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 ₹601</a:t>
            </a:r>
            <a:endParaRPr lang="en-US" sz="1300" dirty="0"/>
          </a:p>
        </p:txBody>
      </p:sp>
      <p:sp>
        <p:nvSpPr>
          <p:cNvPr id="154" name="Text 152"/>
          <p:cNvSpPr/>
          <p:nvPr/>
        </p:nvSpPr>
        <p:spPr>
          <a:xfrm>
            <a:off x="6217920" y="4617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₹626</a:t>
            </a:r>
            <a:endParaRPr lang="en-US" sz="1300" dirty="0"/>
          </a:p>
        </p:txBody>
      </p:sp>
      <p:sp>
        <p:nvSpPr>
          <p:cNvPr id="155" name="Text 153"/>
          <p:cNvSpPr/>
          <p:nvPr/>
        </p:nvSpPr>
        <p:spPr>
          <a:xfrm>
            <a:off x="7589520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LTV positive by Month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63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user's lifetime at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23360" y="594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984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2984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2984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44168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→ Hold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89888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4288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14016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9736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59736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Web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59736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 7–8%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4136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83864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9584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free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29584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 28.4%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43984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53712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FF5F5"/>
          </a:solidFill>
          <a:ln w="25400">
            <a:solidFill>
              <a:srgbClr val="E63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Zero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24hrs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99432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D0TCR  43.1%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₹199/month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69280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 35%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9128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39128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30 days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Engage/Dormant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53528" y="210312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63256" y="1645920"/>
            <a:ext cx="960120" cy="128016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08976" y="17190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08976" y="19659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808976" y="25146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80%/mo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823960" y="164592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6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LEAK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D0TCR  43.1%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of trial takers drop in first 24 hrs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9184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CHAIN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47472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→ Trial → Subscribe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47472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7–8%  ·  TR 28.4%  ·  SR 35%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31546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218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GOAL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9224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positive by Month 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24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LTV ₹626 at ₹199/month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Townhall 2026</dc:title>
  <dc:subject>PptxGenJS Presentation</dc:subject>
  <dc:creator>PptxGenJS</dc:creator>
  <cp:lastModifiedBy>PptxGenJS</cp:lastModifiedBy>
  <cp:revision>1</cp:revision>
  <dcterms:created xsi:type="dcterms:W3CDTF">2026-03-26T09:53:26Z</dcterms:created>
  <dcterms:modified xsi:type="dcterms:W3CDTF">2026-03-26T09:53:26Z</dcterms:modified>
</cp:coreProperties>
</file>